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σᵢ</c:v>
                </c:pt>
              </c:strCache>
            </c:strRef>
          </c:tx>
          <c:spPr>
            <a:solidFill>
              <a:srgbClr val="1A73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σ₁</c:v>
                  </c:pt>
                  <c:pt idx="1">
                    <c:v>σ₂</c:v>
                  </c:pt>
                  <c:pt idx="2">
                    <c:v>σ₃</c:v>
                  </c:pt>
                  <c:pt idx="3">
                    <c:v>σ₄</c:v>
                  </c:pt>
                  <c:pt idx="4">
                    <c:v>σ₅</c:v>
                  </c:pt>
                  <c:pt idx="5">
                    <c:v>σ₆</c:v>
                  </c:pt>
                  <c:pt idx="6">
                    <c:v>σ₇</c:v>
                  </c:pt>
                  <c:pt idx="7">
                    <c:v>σ₈</c:v>
                  </c:pt>
                  <c:pt idx="8">
                    <c:v>σ₉</c:v>
                  </c:pt>
                  <c:pt idx="9">
                    <c:v>σ₁₀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593.72</c:v>
                </c:pt>
                <c:pt idx="1">
                  <c:v>157.21</c:v>
                </c:pt>
                <c:pt idx="2">
                  <c:v>134.25</c:v>
                </c:pt>
                <c:pt idx="3">
                  <c:v>107.37</c:v>
                </c:pt>
                <c:pt idx="4">
                  <c:v>101.26</c:v>
                </c:pt>
                <c:pt idx="5">
                  <c:v>90</c:v>
                </c:pt>
                <c:pt idx="6">
                  <c:v>82</c:v>
                </c:pt>
                <c:pt idx="7">
                  <c:v>76</c:v>
                </c:pt>
                <c:pt idx="8">
                  <c:v>70</c:v>
                </c:pt>
                <c:pt idx="9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9B8D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0"/>
          <c:min val="0"/>
        </c:scaling>
        <c:delete val="0"/>
        <c:axPos val="l"/>
        <c:majorGridlines>
          <c:spPr>
            <a:ln w="12700" cap="flat">
              <a:solidFill>
                <a:srgbClr val="24496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9B8D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singular</c:v>
                </c:pt>
              </c:strCache>
            </c:strRef>
          </c:tx>
          <c:spPr>
            <a:solidFill>
              <a:srgbClr val="66D9EF"/>
            </a:solidFill>
            <a:ln w="25400" cap="flat">
              <a:solidFill>
                <a:srgbClr val="66D9E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6D9EF"/>
              </a:solidFill>
              <a:ln w="9525" cap="flat">
                <a:solidFill>
                  <a:srgbClr val="66D9E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10</c:v>
                  </c:pt>
                  <c:pt idx="6">
                    <c:v>20</c:v>
                  </c:pt>
                  <c:pt idx="7">
                    <c:v>40</c:v>
                  </c:pt>
                  <c:pt idx="8">
                    <c:v>80</c:v>
                  </c:pt>
                  <c:pt idx="9">
                    <c:v>135</c:v>
                  </c:pt>
                  <c:pt idx="10">
                    <c:v>171</c:v>
                  </c:pt>
                  <c:pt idx="11">
                    <c:v>250</c:v>
                  </c:pt>
                  <c:pt idx="12">
                    <c:v>374</c:v>
                  </c:pt>
                  <c:pt idx="13">
                    <c:v>500</c:v>
                  </c:pt>
                  <c:pt idx="14">
                    <c:v>667</c:v>
                  </c:pt>
                  <c:pt idx="15">
                    <c:v>784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593.72</c:v>
                </c:pt>
                <c:pt idx="1">
                  <c:v>157.21</c:v>
                </c:pt>
                <c:pt idx="2">
                  <c:v>134.25</c:v>
                </c:pt>
                <c:pt idx="3">
                  <c:v>107.37</c:v>
                </c:pt>
                <c:pt idx="4">
                  <c:v>101.26</c:v>
                </c:pt>
                <c:pt idx="5">
                  <c:v>82</c:v>
                </c:pt>
                <c:pt idx="6">
                  <c:v>60</c:v>
                </c:pt>
                <c:pt idx="7">
                  <c:v>41</c:v>
                </c:pt>
                <c:pt idx="8">
                  <c:v>30</c:v>
                </c:pt>
                <c:pt idx="9">
                  <c:v>22</c:v>
                </c:pt>
                <c:pt idx="10">
                  <c:v>19</c:v>
                </c:pt>
                <c:pt idx="11">
                  <c:v>15</c:v>
                </c:pt>
                <c:pt idx="12">
                  <c:v>12</c:v>
                </c:pt>
                <c:pt idx="13">
                  <c:v>10</c:v>
                </c:pt>
                <c:pt idx="14">
                  <c:v>8.5</c:v>
                </c:pt>
                <c:pt idx="15">
                  <c:v>7.8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9B8D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  <c:min val="5"/>
        </c:scaling>
        <c:delete val="0"/>
        <c:axPos val="l"/>
        <c:majorGridlines>
          <c:spPr>
            <a:ln w="12700" cap="flat">
              <a:solidFill>
                <a:srgbClr val="24496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9B8D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Energía acumulada (%)</c:v>
                </c:pt>
              </c:strCache>
            </c:strRef>
          </c:tx>
          <c:spPr>
            <a:solidFill>
              <a:srgbClr val="34A853"/>
            </a:solidFill>
            <a:ln w="29210" cap="flat">
              <a:solidFill>
                <a:srgbClr val="34A85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4A853"/>
              </a:solidFill>
              <a:ln w="9525" cap="flat">
                <a:solidFill>
                  <a:srgbClr val="34A85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5</c:v>
                  </c:pt>
                  <c:pt idx="2">
                    <c:v>20</c:v>
                  </c:pt>
                  <c:pt idx="3">
                    <c:v>40</c:v>
                  </c:pt>
                  <c:pt idx="4">
                    <c:v>135</c:v>
                  </c:pt>
                  <c:pt idx="5">
                    <c:v>171</c:v>
                  </c:pt>
                  <c:pt idx="6">
                    <c:v>374</c:v>
                  </c:pt>
                  <c:pt idx="7">
                    <c:v>667</c:v>
                  </c:pt>
                  <c:pt idx="8">
                    <c:v>784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57.2</c:v>
                </c:pt>
                <c:pt idx="1">
                  <c:v>67.6</c:v>
                </c:pt>
                <c:pt idx="2">
                  <c:v>77.4</c:v>
                </c:pt>
                <c:pt idx="3">
                  <c:v>81.9</c:v>
                </c:pt>
                <c:pt idx="4">
                  <c:v>88.5</c:v>
                </c:pt>
                <c:pt idx="5">
                  <c:v>90</c:v>
                </c:pt>
                <c:pt idx="6">
                  <c:v>95</c:v>
                </c:pt>
                <c:pt idx="7">
                  <c:v>99</c:v>
                </c:pt>
                <c:pt idx="8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9B8D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24496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9B8D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PSNR (dB)</c:v>
                </c:pt>
              </c:strCache>
            </c:strRef>
          </c:tx>
          <c:spPr>
            <a:solidFill>
              <a:srgbClr val="1A73E8"/>
            </a:solidFill>
            <a:ln w="30480" cap="flat">
              <a:solidFill>
                <a:srgbClr val="1A73E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73E8"/>
              </a:solidFill>
              <a:ln w="9525" cap="flat">
                <a:solidFill>
                  <a:srgbClr val="1A73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5</c:v>
                  </c:pt>
                  <c:pt idx="2">
                    <c:v>20</c:v>
                  </c:pt>
                  <c:pt idx="3">
                    <c:v>40</c:v>
                  </c:pt>
                  <c:pt idx="4">
                    <c:v>80</c:v>
                  </c:pt>
                  <c:pt idx="5">
                    <c:v>135</c:v>
                  </c:pt>
                  <c:pt idx="6">
                    <c:v>200</c:v>
                  </c:pt>
                  <c:pt idx="7">
                    <c:v>374</c:v>
                  </c:pt>
                  <c:pt idx="8">
                    <c:v>667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12.38</c:v>
                </c:pt>
                <c:pt idx="1">
                  <c:v>14</c:v>
                </c:pt>
                <c:pt idx="2">
                  <c:v>16.23</c:v>
                </c:pt>
                <c:pt idx="3">
                  <c:v>17.6</c:v>
                </c:pt>
                <c:pt idx="4">
                  <c:v>18.7</c:v>
                </c:pt>
                <c:pt idx="5">
                  <c:v>19.17</c:v>
                </c:pt>
                <c:pt idx="6">
                  <c:v>18.85</c:v>
                </c:pt>
                <c:pt idx="7">
                  <c:v>17.7</c:v>
                </c:pt>
                <c:pt idx="8">
                  <c:v>16.9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9B8D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12"/>
        </c:scaling>
        <c:delete val="0"/>
        <c:axPos val="l"/>
        <c:majorGridlines>
          <c:spPr>
            <a:ln w="12700" cap="flat">
              <a:solidFill>
                <a:srgbClr val="24496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9B8D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presentar el problema visual. Preguntar al grupo: ¿qué parte es ruido y qué parte sigue siendo estructura?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ruido es aleatorio y caótico, pero la estructura que buscamos tiene un patrón. Y SVD puede encontrarlo.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entrar en álgebra pesada: SVD separa patrones por importancia. Los valores singulares son el ranking de importancia.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elegir un k más pequeño, reducimos drásticamente la información que guardamos, pero conservamos lo esencial: la estructura del dígito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como una fiesta: las voces principales son los valores grandes; el murmullo de fondo son los valores pequeños. SVD nos ayuda a quedarnos con lo importante.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 cómo la imagen cobra vida al aumentar k. Pero si subimos demasiado, también empiezan a regresar detalles que son ruido.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codo no siempre da un número exacto. Es una regla visual para detectar el cambio entre información dominante y cola de componentes pequeños.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energía acumulada nos dice cuánta información capturan los primeros k componentes. Con 171 componentes ya tenemos el 90% de toda la energía.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PSNR nos da una respuesta precisa: cuál k maximiza calidad. Ojo: requiere una referencia limpia, cosa que en problemas reales no siempre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llamado a la acción: que tomen una imagen, agreguen ruido y prueben distintos valores de 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7"/>
          </a:solidFill>
          <a:ln w="12700">
            <a:solidFill>
              <a:srgbClr val="0715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6510528"/>
            <a:ext cx="11521440" cy="0"/>
          </a:xfrm>
          <a:prstGeom prst="line">
            <a:avLst/>
          </a:prstGeom>
          <a:noFill/>
          <a:ln w="12700">
            <a:solidFill>
              <a:srgbClr val="1A73E8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 · Digit 3 Denoising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dark_graphic_illustration_scene_a_single_lar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080760" cy="6858000"/>
          </a:xfrm>
          <a:prstGeom prst="rect">
            <a:avLst/>
          </a:prstGeom>
          <a:solidFill>
            <a:srgbClr val="071527">
              <a:alpha val="88000"/>
            </a:srgbClr>
          </a:solidFill>
          <a:ln w="12700">
            <a:solidFill>
              <a:srgbClr val="0715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502920"/>
            <a:ext cx="2423160" cy="329184"/>
          </a:xfrm>
          <a:prstGeom prst="roundRect">
            <a:avLst>
              <a:gd name="adj" fmla="val 22222"/>
            </a:avLst>
          </a:prstGeom>
          <a:solidFill>
            <a:srgbClr val="1A73E8">
              <a:alpha val="94000"/>
            </a:srgbClr>
          </a:solidFill>
          <a:ln w="12700">
            <a:solidFill>
              <a:srgbClr val="1A73E8">
                <a:alpha val="7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5669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σ = 0.2 · PSNR ruido = 16.71 dB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5212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 A TRAVÉS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RUIDO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67512" y="29260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66D9EF"/>
                </a:solidFill>
              </a:rPr>
              <a:t>Cómo SVD revela la estructura oculta en las imágenes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67512" y="34015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DCE6F7"/>
                </a:solidFill>
              </a:rPr>
              <a:t>Una historia de matemáticas, dígitos manuscritos y descubrimiento.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7512" y="3977640"/>
            <a:ext cx="4434840" cy="0"/>
          </a:xfrm>
          <a:prstGeom prst="line">
            <a:avLst/>
          </a:prstGeom>
          <a:noFill/>
          <a:ln w="20320">
            <a:solidFill>
              <a:srgbClr val="1A73E8">
                <a:alpha val="9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343400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¿Qué pasaría si pudieras mirar una imagen corrupta por ruido y recuperar matemáticamente el dígito original?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15671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B8D3"/>
                </a:solidFill>
              </a:rPr>
              <a:t>1/10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¿PUEDES LEER ESTOS DÍGITOS?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6F7"/>
                </a:solidFill>
              </a:rPr>
              <a:t>Todos son el número 3 manuscrito... pero el ruido los hace casi ilegibles.</a:t>
            </a:r>
            <a:endParaRPr lang="en-US" sz="1500" dirty="0"/>
          </a:p>
        </p:txBody>
      </p:sp>
      <p:pic>
        <p:nvPicPr>
          <p:cNvPr id="4" name="Image 0" descr="/mnt/data/a_wide_clean_infographic_like_image_on_a_black_ba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43072"/>
            <a:ext cx="7498080" cy="42199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0" y="1234440"/>
            <a:ext cx="3108960" cy="3749040"/>
          </a:xfrm>
          <a:prstGeom prst="roundRect">
            <a:avLst>
              <a:gd name="adj" fmla="val 2941"/>
            </a:avLst>
          </a:prstGeom>
          <a:solidFill>
            <a:srgbClr val="0B1E35"/>
          </a:solidFill>
          <a:ln w="12700">
            <a:solidFill>
              <a:srgbClr val="1A73E8">
                <a:alpha val="6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48132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Datos del notebook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641080" y="187452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0E2847">
              <a:alpha val="98000"/>
            </a:srgbClr>
          </a:solidFill>
          <a:ln w="15240">
            <a:solidFill>
              <a:srgbClr val="66D9EF">
                <a:alpha val="6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69096" y="1984248"/>
            <a:ext cx="978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6,131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769096" y="2331720"/>
            <a:ext cx="978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imágenes del dígito 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0012680" y="187452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0E2847">
              <a:alpha val="98000"/>
            </a:srgbClr>
          </a:solidFill>
          <a:ln w="15240">
            <a:solidFill>
              <a:srgbClr val="1A73E8">
                <a:alpha val="6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140696" y="1984248"/>
            <a:ext cx="978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28×28=784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140696" y="2331720"/>
            <a:ext cx="978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píxeles por imagen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641080" y="278892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0E2847">
              <a:alpha val="98000"/>
            </a:srgbClr>
          </a:solidFill>
          <a:ln w="15240">
            <a:solidFill>
              <a:srgbClr val="FABB05">
                <a:alpha val="6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69096" y="2898648"/>
            <a:ext cx="978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σ = 0.2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769096" y="3246120"/>
            <a:ext cx="978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ruido gaussiano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0012680" y="278892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0E2847">
              <a:alpha val="98000"/>
            </a:srgbClr>
          </a:solidFill>
          <a:ln w="15240">
            <a:solidFill>
              <a:srgbClr val="EA4335">
                <a:alpha val="6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140696" y="2898648"/>
            <a:ext cx="978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16.71 dB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140696" y="3246120"/>
            <a:ext cx="978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PSNR del ruido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641080" y="39136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D3"/>
                </a:solidFill>
              </a:rPr>
              <a:t>Pregunta para estudiantes: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641080" y="4160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¿Puedes identificar el número en cada imagen?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5671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B8D3"/>
                </a:solidFill>
              </a:rPr>
              <a:t>2/10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SVD: LA HERRAMIENTA QUE REVELA ESTRUCTURAS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6D9EF"/>
                </a:solidFill>
              </a:rPr>
              <a:t>Descompone una matriz en “capas de información”.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49808" y="1444752"/>
            <a:ext cx="3749040" cy="841248"/>
          </a:xfrm>
          <a:prstGeom prst="roundRect">
            <a:avLst>
              <a:gd name="adj" fmla="val 8696"/>
            </a:avLst>
          </a:prstGeom>
          <a:solidFill>
            <a:srgbClr val="0B1E35"/>
          </a:solidFill>
          <a:ln w="12700">
            <a:solidFill>
              <a:srgbClr val="1A73E8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544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= U · Σ · Vᵀ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0B1E35"/>
          </a:solidFill>
          <a:ln w="16510">
            <a:solidFill>
              <a:srgbClr val="1A73E8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A73E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68680" y="32644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6131 × 784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538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Todas las imágenes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54680" y="27432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0B1E35"/>
          </a:solidFill>
          <a:ln w="16510">
            <a:solidFill>
              <a:srgbClr val="66D9EF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6D9E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246120" y="32644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6131 × 6131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3538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Patrones por imagen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807208" y="31363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=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532120" y="27432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0B1E35"/>
          </a:solidFill>
          <a:ln w="16510">
            <a:solidFill>
              <a:srgbClr val="FABB05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ABB0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5623560" y="32644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6131 × 784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3538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Importancia / energía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184648" y="31363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·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909560" y="27432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0B1E35"/>
          </a:solidFill>
          <a:ln w="1651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78B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Vᵀ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8001000" y="32644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784 × 784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01000" y="3538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Patrones de píxeles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562088" y="31363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·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822960" y="4572000"/>
            <a:ext cx="9646920" cy="960120"/>
          </a:xfrm>
          <a:prstGeom prst="roundRect">
            <a:avLst>
              <a:gd name="adj" fmla="val 7619"/>
            </a:avLst>
          </a:prstGeom>
          <a:solidFill>
            <a:srgbClr val="0E2847">
              <a:alpha val="95000"/>
            </a:srgbClr>
          </a:solidFill>
          <a:ln w="12700">
            <a:solidFill>
              <a:srgbClr val="66D9EF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7365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Analogía: imagina una orquesta.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60520" y="4736592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CE6F7"/>
                </a:solidFill>
              </a:rPr>
              <a:t>U y V son los músicos; Σ es el volumen de cada instrumento. Los instrumentos más fuertes son los que realmente importan.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5671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B8D3"/>
                </a:solidFill>
              </a:rPr>
              <a:t>3/10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LAS DIMENSIONES IMPORTAN?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6D9EF"/>
                </a:solidFill>
              </a:rPr>
              <a:t>La fórmula es simple; las dimensiones cuentan la historia.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Matriz de datos X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1847088"/>
            <a:ext cx="2468880" cy="2926080"/>
          </a:xfrm>
          <a:prstGeom prst="rect">
            <a:avLst/>
          </a:prstGeom>
          <a:solidFill>
            <a:srgbClr val="1A73E8">
              <a:alpha val="95000"/>
            </a:srgbClr>
          </a:solidFill>
          <a:ln w="19050">
            <a:solidFill>
              <a:srgbClr val="1A7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12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6131 filas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= imágenes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784 columnas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= píxeles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49560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D9E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[6131 × 784]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794760" y="141732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0B1E35"/>
          </a:solidFill>
          <a:ln w="12700">
            <a:solidFill>
              <a:srgbClr val="1A73E8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52704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Xₖ = Uₖ · Σₖ · Vₖᵀ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3840480" y="278892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0B1E35"/>
          </a:solidFill>
          <a:ln w="16510">
            <a:solidFill>
              <a:srgbClr val="66D9EF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0208" y="297180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6D9E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31920" y="34290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6131 × 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06440" y="2788920"/>
            <a:ext cx="1051560" cy="1280160"/>
          </a:xfrm>
          <a:prstGeom prst="roundRect">
            <a:avLst>
              <a:gd name="adj" fmla="val 6957"/>
            </a:avLst>
          </a:prstGeom>
          <a:solidFill>
            <a:srgbClr val="0B1E35"/>
          </a:solidFill>
          <a:ln w="16510">
            <a:solidFill>
              <a:srgbClr val="FABB05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16168" y="297180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BB0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897880" y="342900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 × 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50408" y="32461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·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269480" y="278892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0B1E35"/>
          </a:solidFill>
          <a:ln w="1651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79208" y="29718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Vₖᵀ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60920" y="3429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 × 784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13448" y="32461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·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675888" y="4480560"/>
            <a:ext cx="5760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[6131×784] = [6131×k] · [k×k] · [k×784]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738360" y="1417320"/>
            <a:ext cx="1920240" cy="3749040"/>
          </a:xfrm>
          <a:prstGeom prst="roundRect">
            <a:avLst>
              <a:gd name="adj" fmla="val 3810"/>
            </a:avLst>
          </a:prstGeom>
          <a:solidFill>
            <a:srgbClr val="0E2847"/>
          </a:solidFill>
          <a:ln w="12700">
            <a:solidFill>
              <a:srgbClr val="1A73E8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12680" y="1719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Elegir k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0012680" y="228600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CE6F7"/>
                </a:solidFill>
              </a:rPr>
              <a:t>guardamos solo los k patrones más importantes y descartamos el resto.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875520" y="4160520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34A853">
              <a:alpha val="94000"/>
            </a:srgbClr>
          </a:solidFill>
          <a:ln w="12700">
            <a:solidFill>
              <a:srgbClr val="34A853">
                <a:alpha val="7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85248" y="422452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menos datos · misma estructura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5671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B8D3"/>
                </a:solidFill>
              </a:rPr>
              <a:t>4/10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SECRETO: SEPARAR SEÑAL DE RUIDO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6F7"/>
                </a:solidFill>
              </a:rPr>
              <a:t>La forma del dígito vive en los valores singulares grandes. El ruido se reparte en muchos valores pequeños.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572768"/>
          <a:ext cx="6858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508760"/>
            <a:ext cx="3429000" cy="1280160"/>
          </a:xfrm>
          <a:prstGeom prst="roundRect">
            <a:avLst>
              <a:gd name="adj" fmla="val 7143"/>
            </a:avLst>
          </a:prstGeom>
          <a:solidFill>
            <a:srgbClr val="0B1E35"/>
          </a:solidFill>
          <a:ln w="12700">
            <a:solidFill>
              <a:srgbClr val="34A853">
                <a:alpha val="6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75320" y="1764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A853"/>
                </a:solidFill>
              </a:rPr>
              <a:t>SEÑAL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321040" y="21305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E6F7"/>
                </a:solidFill>
              </a:rPr>
              <a:t>primeros componentes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6F7"/>
                </a:solidFill>
              </a:rPr>
              <a:t>con mayor energía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01000" y="3063240"/>
            <a:ext cx="3429000" cy="1280160"/>
          </a:xfrm>
          <a:prstGeom prst="roundRect">
            <a:avLst>
              <a:gd name="adj" fmla="val 7143"/>
            </a:avLst>
          </a:prstGeom>
          <a:solidFill>
            <a:srgbClr val="0B1E35"/>
          </a:solidFill>
          <a:ln w="12700">
            <a:solidFill>
              <a:srgbClr val="EA4335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75320" y="33192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335"/>
                </a:solidFill>
              </a:rPr>
              <a:t>RUIDO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321040" y="3685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E6F7"/>
                </a:solidFill>
              </a:rPr>
              <a:t>muchos componentes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6F7"/>
                </a:solidFill>
              </a:rPr>
              <a:t>pequeños y dispersos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56235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D9EF"/>
                </a:solidFill>
              </a:rPr>
              <a:t>σ₁ = 593.72 domina la escala: por eso el ranking importa.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5671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B8D3"/>
                </a:solidFill>
              </a:rPr>
              <a:t>5/10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k TRANSFORMA LA IMAGEN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6D9EF"/>
                </a:solidFill>
              </a:rPr>
              <a:t>4 reconstrucciones, 4 resultados diferentes</a:t>
            </a:r>
            <a:endParaRPr lang="en-US" sz="1300" dirty="0"/>
          </a:p>
        </p:txBody>
      </p:sp>
      <p:pic>
        <p:nvPicPr>
          <p:cNvPr id="4" name="Image 0" descr="/mnt/data/a_clean_graphic_image_with_a_dark_navy_blue_backgr_batch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20690"/>
            <a:ext cx="6629400" cy="3731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23444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0B1E35"/>
          </a:solidFill>
          <a:ln w="16510">
            <a:solidFill>
              <a:srgbClr val="EA4335">
                <a:alpha val="8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44968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4335"/>
                </a:solidFill>
              </a:rPr>
              <a:t>k = 1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744968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PSNR 12.38 dB · Energía 57.2%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Casi irreconocible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9464040" y="123444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0B1E35"/>
          </a:solidFill>
          <a:ln w="16510">
            <a:solidFill>
              <a:srgbClr val="FABB05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73768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ABB05"/>
                </a:solidFill>
              </a:rPr>
              <a:t>k = 5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573768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PSNR 14.00 dB · Energía 67.6%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Comienza a verse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35240" y="397764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0B1E35"/>
          </a:solidFill>
          <a:ln w="16510">
            <a:solidFill>
              <a:srgbClr val="34A853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44968" y="4114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4A853"/>
                </a:solidFill>
              </a:rPr>
              <a:t>k = 20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744968" y="4480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PSNR 16.23 dB · Energía 77.4%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¡Perfectamente legible!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464040" y="397764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0B1E35"/>
          </a:solidFill>
          <a:ln w="16510">
            <a:solidFill>
              <a:srgbClr val="EA433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73768" y="4114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4335"/>
                </a:solidFill>
              </a:rPr>
              <a:t>k = 40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9573768" y="4480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PSNR 17.60 dB · Energía 81.9%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El ruido regresa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635240" y="3429000"/>
            <a:ext cx="3429000" cy="338328"/>
          </a:xfrm>
          <a:prstGeom prst="roundRect">
            <a:avLst>
              <a:gd name="adj" fmla="val 21622"/>
            </a:avLst>
          </a:prstGeom>
          <a:solidFill>
            <a:srgbClr val="34A853">
              <a:alpha val="92000"/>
            </a:srgbClr>
          </a:solidFill>
          <a:ln w="12700">
            <a:solidFill>
              <a:srgbClr val="071527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0" y="3520440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Punto visual: subir k ayuda... hasta que empieza a traer ruido.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115671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B8D3"/>
                </a:solidFill>
              </a:rPr>
              <a:t>6/10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CODO DE LOS VALORES SINGULARES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6D9EF"/>
                </a:solidFill>
              </a:rPr>
              <a:t>Método 1: buscar dónde la curva deja de caer rápido.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366760" y="1508760"/>
            <a:ext cx="3063240" cy="2926080"/>
          </a:xfrm>
          <a:prstGeom prst="roundRect">
            <a:avLst>
              <a:gd name="adj" fmla="val 3125"/>
            </a:avLst>
          </a:prstGeom>
          <a:solidFill>
            <a:srgbClr val="0B1E35"/>
          </a:solidFill>
          <a:ln w="12700">
            <a:solidFill>
              <a:srgbClr val="1A73E8">
                <a:alpha val="6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1783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Lectura del scree plot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41080" y="2176272"/>
            <a:ext cx="251460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00" dirty="0">
                <a:solidFill>
                  <a:srgbClr val="DCE6F7"/>
                </a:solidFill>
              </a:rPr>
              <a:t>Valores en orden descendente</a:t>
            </a:r>
            <a:endParaRPr lang="en-US" sz="1200" dirty="0"/>
          </a:p>
          <a:p>
            <a:r>
              <a:rPr lang="en-US" sz="1200" dirty="0">
                <a:solidFill>
                  <a:srgbClr val="DCE6F7"/>
                </a:solidFill>
              </a:rPr>
              <a:t>Buscamos el “codo” de la curva</a:t>
            </a:r>
            <a:endParaRPr lang="en-US" sz="1200" dirty="0"/>
          </a:p>
          <a:p>
            <a:r>
              <a:rPr lang="en-US" sz="1200" dirty="0">
                <a:solidFill>
                  <a:srgbClr val="DCE6F7"/>
                </a:solidFill>
              </a:rPr>
              <a:t>Región sugerida: k ≈ 171–374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41080" y="3520440"/>
            <a:ext cx="1188720" cy="749808"/>
          </a:xfrm>
          <a:prstGeom prst="roundRect">
            <a:avLst>
              <a:gd name="adj" fmla="val 9756"/>
            </a:avLst>
          </a:prstGeom>
          <a:solidFill>
            <a:srgbClr val="0E2847">
              <a:alpha val="98000"/>
            </a:srgbClr>
          </a:solidFill>
          <a:ln w="15240">
            <a:solidFill>
              <a:srgbClr val="34A853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69096" y="3630168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 = 171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769096" y="3977640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90% de energía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0012680" y="3520440"/>
            <a:ext cx="1188720" cy="749808"/>
          </a:xfrm>
          <a:prstGeom prst="roundRect">
            <a:avLst>
              <a:gd name="adj" fmla="val 9756"/>
            </a:avLst>
          </a:prstGeom>
          <a:solidFill>
            <a:srgbClr val="0E2847">
              <a:alpha val="98000"/>
            </a:srgbClr>
          </a:solidFill>
          <a:ln w="15240">
            <a:solidFill>
              <a:srgbClr val="FABB05">
                <a:alpha val="6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140696" y="3630168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 = 374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140696" y="3977640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95% de energía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14400" y="5797296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D9EF"/>
                </a:solidFill>
              </a:rPr>
              <a:t>El codo marca dónde los valores empiezan a parecer menos significativos.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5671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B8D3"/>
                </a:solidFill>
              </a:rPr>
              <a:t>7/10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  <p:pic>
        <p:nvPicPr>
          <p:cNvPr id="26" name="Picture 25" descr="slide7_scree_fix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444752"/>
            <a:ext cx="74066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¿CUÁNTA ENERGÍA CAPTURA CADA k?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6D9EF"/>
                </a:solidFill>
              </a:rPr>
              <a:t>Método 2: energía acumulada.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641080" y="146304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0B1E35"/>
          </a:solidFill>
          <a:ln w="12700">
            <a:solidFill>
              <a:srgbClr val="34A853">
                <a:alpha val="6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6112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Resultados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9006840" y="2331720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0E2847">
              <a:alpha val="98000"/>
            </a:srgbClr>
          </a:solidFill>
          <a:ln w="15240">
            <a:solidFill>
              <a:srgbClr val="34A853">
                <a:alpha val="6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34856" y="2441448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90% → k=171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34856" y="2788920"/>
            <a:ext cx="1709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energía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9006840" y="3246120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0E2847">
              <a:alpha val="98000"/>
            </a:srgbClr>
          </a:solidFill>
          <a:ln w="15240">
            <a:solidFill>
              <a:srgbClr val="FABB05">
                <a:alpha val="6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34856" y="3355848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95% → k=374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34856" y="3703320"/>
            <a:ext cx="1709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energía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9006840" y="4160520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0E2847">
              <a:alpha val="98000"/>
            </a:srgbClr>
          </a:solidFill>
          <a:ln w="15240">
            <a:solidFill>
              <a:srgbClr val="EA4335">
                <a:alpha val="6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34856" y="4270248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99% → k=667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134856" y="4617720"/>
            <a:ext cx="1709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energía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68680" y="58338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D9EF"/>
                </a:solidFill>
              </a:rPr>
              <a:t>Idea clave: la curva sube rápido al principio y luego se estabiliza.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5671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B8D3"/>
                </a:solidFill>
              </a:rPr>
              <a:t>8/10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  <p:pic>
        <p:nvPicPr>
          <p:cNvPr id="26" name="Picture 25" descr="slide8_energy_fix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417320"/>
            <a:ext cx="76352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k PERFECTO: MÁXIMA CALIDAD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6D9EF"/>
                </a:solidFill>
              </a:rPr>
              <a:t>Método 3: PSNR compara reconstrucción contra imagen limpia.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00100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0B1E35"/>
          </a:solidFill>
          <a:ln w="17780">
            <a:solidFill>
              <a:srgbClr val="34A853">
                <a:alpha val="8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75320" y="17190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A853"/>
                </a:solidFill>
              </a:rPr>
              <a:t>k óptimo = 135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75320" y="214884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PSNR máximo = 19.17 dB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75320" y="239572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D9EF"/>
                </a:solidFill>
              </a:rPr>
              <a:t>Mejora sobre ruido: +2.46 dB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001000" y="306324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0B1E35"/>
          </a:solidFill>
          <a:ln w="12700">
            <a:solidFill>
              <a:srgbClr val="1A73E8">
                <a:alpha val="5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02752" y="33101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Comparación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366760" y="36850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Energía 95%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966960" y="3685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374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366760" y="40782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Codo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966960" y="40782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171–374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66760" y="44714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</a:rPr>
              <a:t>PSNR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966960" y="44714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A853"/>
                </a:solidFill>
              </a:rPr>
              <a:t>135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68680" y="583387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D9EF"/>
                </a:solidFill>
              </a:rPr>
              <a:t>PSNR da la respuesta más directa cuando tenemos la imagen limpia de referencia.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5671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B8D3"/>
                </a:solidFill>
              </a:rPr>
              <a:t>9/10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26" name="Picture 25" descr="slide9_psnr_fix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417320"/>
            <a:ext cx="70408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 MUY POCO, NI DEMASIADO: ¡EL k JUSTO!</a:t>
            </a:r>
            <a:endParaRPr lang="en-US" sz="3100" dirty="0"/>
          </a:p>
        </p:txBody>
      </p:sp>
      <p:pic>
        <p:nvPicPr>
          <p:cNvPr id="3" name="Image 0" descr="/mnt/data/a_wide_dark_navy_black_background_image_showing_t_batch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5376" y="1143000"/>
            <a:ext cx="5930287" cy="3337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46634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0B1E35"/>
          </a:solidFill>
          <a:ln w="12700">
            <a:solidFill>
              <a:srgbClr val="EA4335">
                <a:alpha val="7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4791456"/>
            <a:ext cx="1874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4335"/>
                </a:solidFill>
              </a:rPr>
              <a:t>k pequeño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5074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pierde detalles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imagen borrosa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063240" y="46634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0B1E35"/>
          </a:solidFill>
          <a:ln w="12700">
            <a:solidFill>
              <a:srgbClr val="34A853">
                <a:alpha val="7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54680" y="4791456"/>
            <a:ext cx="1874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A853"/>
                </a:solidFill>
              </a:rPr>
              <a:t>k óptimo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54680" y="5074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imagen limpia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perfectamente legible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394960" y="46634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0B1E35"/>
          </a:solidFill>
          <a:ln w="12700">
            <a:solidFill>
              <a:srgbClr val="FABB05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4791456"/>
            <a:ext cx="1874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BB05"/>
                </a:solidFill>
              </a:rPr>
              <a:t>k grande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0" y="5074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ruido reintroducido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se ve granulada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46720" y="1234440"/>
            <a:ext cx="3520440" cy="4526280"/>
          </a:xfrm>
          <a:prstGeom prst="roundRect">
            <a:avLst>
              <a:gd name="adj" fmla="val 2597"/>
            </a:avLst>
          </a:prstGeom>
          <a:solidFill>
            <a:srgbClr val="0B1E35"/>
          </a:solidFill>
          <a:ln w="12700">
            <a:solidFill>
              <a:srgbClr val="1A73E8">
                <a:alpha val="5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66760" y="155448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Cierre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394192" y="20116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6D9EF"/>
                </a:solidFill>
              </a:rPr>
              <a:t>“SVD no solo limpia imágenes: nos enseña que detrás del caos siempre hay estructura esperando ser revelada.”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503920" y="32735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Aplicaciones reales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577072" y="3685032"/>
            <a:ext cx="251460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120" dirty="0">
                <a:solidFill>
                  <a:srgbClr val="DCE6F7"/>
                </a:solidFill>
              </a:rPr>
              <a:t>Neuroimagen: limpiar resonancias</a:t>
            </a:r>
            <a:endParaRPr lang="en-US" sz="1120" dirty="0"/>
          </a:p>
          <a:p>
            <a:r>
              <a:rPr lang="en-US" sz="1120" dirty="0">
                <a:solidFill>
                  <a:srgbClr val="DCE6F7"/>
                </a:solidFill>
              </a:rPr>
              <a:t>Satélites: mejorar imágenes</a:t>
            </a:r>
            <a:endParaRPr lang="en-US" sz="1120" dirty="0"/>
          </a:p>
          <a:p>
            <a:r>
              <a:rPr lang="en-US" sz="1120" dirty="0">
                <a:solidFill>
                  <a:srgbClr val="DCE6F7"/>
                </a:solidFill>
              </a:rPr>
              <a:t>Cine: restaurar películas</a:t>
            </a:r>
            <a:endParaRPr lang="en-US" sz="1120" dirty="0"/>
          </a:p>
          <a:p>
            <a:r>
              <a:rPr lang="en-US" sz="1120" dirty="0">
                <a:solidFill>
                  <a:srgbClr val="DCE6F7"/>
                </a:solidFill>
              </a:rPr>
              <a:t>Reconocimiento facial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8211312" y="5166360"/>
            <a:ext cx="3154680" cy="329184"/>
          </a:xfrm>
          <a:prstGeom prst="roundRect">
            <a:avLst>
              <a:gd name="adj" fmla="val 22222"/>
            </a:avLst>
          </a:prstGeom>
          <a:solidFill>
            <a:srgbClr val="34A853">
              <a:alpha val="94000"/>
            </a:srgbClr>
          </a:solidFill>
          <a:ln w="12700">
            <a:solidFill>
              <a:srgbClr val="34A853">
                <a:alpha val="7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21040" y="5230368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Experimenta: añade ruido y encuentra tu k óptimo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5671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B8D3"/>
                </a:solidFill>
              </a:rPr>
              <a:t>10/10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 a través del ruido</dc:title>
  <dc:subject>SVD Digit 3 Denoising</dc:subject>
  <dc:creator>OpenAI</dc:creator>
  <cp:lastModifiedBy>OpenAI</cp:lastModifiedBy>
  <cp:revision>1</cp:revision>
  <dcterms:created xsi:type="dcterms:W3CDTF">2026-08-22T20:23:59Z</dcterms:created>
  <dcterms:modified xsi:type="dcterms:W3CDTF">2026-08-22T20:23:59Z</dcterms:modified>
</cp:coreProperties>
</file>