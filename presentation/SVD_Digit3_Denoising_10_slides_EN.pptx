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σᵢ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σ₁</c:v>
                  </c:pt>
                  <c:pt idx="1">
                    <c:v>σ₂</c:v>
                  </c:pt>
                  <c:pt idx="2">
                    <c:v>σ₃</c:v>
                  </c:pt>
                  <c:pt idx="3">
                    <c:v>σ₄</c:v>
                  </c:pt>
                  <c:pt idx="4">
                    <c:v>σ₅</c:v>
                  </c:pt>
                  <c:pt idx="5">
                    <c:v>σ₆</c:v>
                  </c:pt>
                  <c:pt idx="6">
                    <c:v>σ₇</c:v>
                  </c:pt>
                  <c:pt idx="7">
                    <c:v>σ₈</c:v>
                  </c:pt>
                  <c:pt idx="8">
                    <c:v>σ₉</c:v>
                  </c:pt>
                  <c:pt idx="9">
                    <c:v>σ₁₀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593.72</c:v>
                </c:pt>
                <c:pt idx="1">
                  <c:v>157.21</c:v>
                </c:pt>
                <c:pt idx="2">
                  <c:v>134.25</c:v>
                </c:pt>
                <c:pt idx="3">
                  <c:v>107.37</c:v>
                </c:pt>
                <c:pt idx="4">
                  <c:v>101.26</c:v>
                </c:pt>
                <c:pt idx="5">
                  <c:v>90</c:v>
                </c:pt>
                <c:pt idx="6">
                  <c:v>82</c:v>
                </c:pt>
                <c:pt idx="7">
                  <c:v>76</c:v>
                </c:pt>
                <c:pt idx="8">
                  <c:v>70</c:v>
                </c:pt>
                <c:pt idx="9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singular</c:v>
                </c:pt>
              </c:strCache>
            </c:strRef>
          </c:tx>
          <c:spPr>
            <a:solidFill>
              <a:srgbClr val="66D9EF"/>
            </a:solidFill>
            <a:ln w="25400" cap="flat">
              <a:solidFill>
                <a:srgbClr val="66D9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D9EF"/>
              </a:solidFill>
              <a:ln w="9525" cap="flat">
                <a:solidFill>
                  <a:srgbClr val="66D9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10</c:v>
                  </c:pt>
                  <c:pt idx="6">
                    <c:v>20</c:v>
                  </c:pt>
                  <c:pt idx="7">
                    <c:v>40</c:v>
                  </c:pt>
                  <c:pt idx="8">
                    <c:v>80</c:v>
                  </c:pt>
                  <c:pt idx="9">
                    <c:v>135</c:v>
                  </c:pt>
                  <c:pt idx="10">
                    <c:v>171</c:v>
                  </c:pt>
                  <c:pt idx="11">
                    <c:v>250</c:v>
                  </c:pt>
                  <c:pt idx="12">
                    <c:v>374</c:v>
                  </c:pt>
                  <c:pt idx="13">
                    <c:v>500</c:v>
                  </c:pt>
                  <c:pt idx="14">
                    <c:v>667</c:v>
                  </c:pt>
                  <c:pt idx="15">
                    <c:v>784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593.72</c:v>
                </c:pt>
                <c:pt idx="1">
                  <c:v>157.21</c:v>
                </c:pt>
                <c:pt idx="2">
                  <c:v>134.25</c:v>
                </c:pt>
                <c:pt idx="3">
                  <c:v>107.37</c:v>
                </c:pt>
                <c:pt idx="4">
                  <c:v>101.26</c:v>
                </c:pt>
                <c:pt idx="5">
                  <c:v>82</c:v>
                </c:pt>
                <c:pt idx="6">
                  <c:v>60</c:v>
                </c:pt>
                <c:pt idx="7">
                  <c:v>41</c:v>
                </c:pt>
                <c:pt idx="8">
                  <c:v>30</c:v>
                </c:pt>
                <c:pt idx="9">
                  <c:v>22</c:v>
                </c:pt>
                <c:pt idx="10">
                  <c:v>19</c:v>
                </c:pt>
                <c:pt idx="11">
                  <c:v>15</c:v>
                </c:pt>
                <c:pt idx="12">
                  <c:v>12</c:v>
                </c:pt>
                <c:pt idx="13">
                  <c:v>10</c:v>
                </c:pt>
                <c:pt idx="14">
                  <c:v>8.5</c:v>
                </c:pt>
                <c:pt idx="15">
                  <c:v>7.8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5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Energía acumulada (%)</c:v>
                </c:pt>
              </c:strCache>
            </c:strRef>
          </c:tx>
          <c:spPr>
            <a:solidFill>
              <a:srgbClr val="34A853"/>
            </a:solidFill>
            <a:ln w="29210" cap="flat">
              <a:solidFill>
                <a:srgbClr val="34A8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A853"/>
              </a:solidFill>
              <a:ln w="9525" cap="flat">
                <a:solidFill>
                  <a:srgbClr val="34A8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20</c:v>
                  </c:pt>
                  <c:pt idx="3">
                    <c:v>40</c:v>
                  </c:pt>
                  <c:pt idx="4">
                    <c:v>135</c:v>
                  </c:pt>
                  <c:pt idx="5">
                    <c:v>171</c:v>
                  </c:pt>
                  <c:pt idx="6">
                    <c:v>374</c:v>
                  </c:pt>
                  <c:pt idx="7">
                    <c:v>667</c:v>
                  </c:pt>
                  <c:pt idx="8">
                    <c:v>784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57.2</c:v>
                </c:pt>
                <c:pt idx="1">
                  <c:v>67.6</c:v>
                </c:pt>
                <c:pt idx="2">
                  <c:v>77.4</c:v>
                </c:pt>
                <c:pt idx="3">
                  <c:v>81.9</c:v>
                </c:pt>
                <c:pt idx="4">
                  <c:v>88.5</c:v>
                </c:pt>
                <c:pt idx="5">
                  <c:v>90</c:v>
                </c:pt>
                <c:pt idx="6">
                  <c:v>95</c:v>
                </c:pt>
                <c:pt idx="7">
                  <c:v>99</c:v>
                </c:pt>
                <c:pt idx="8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1A73E8"/>
            </a:solidFill>
            <a:ln w="30480" cap="flat">
              <a:solidFill>
                <a:srgbClr val="1A73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73E8"/>
              </a:solidFill>
              <a:ln w="9525" cap="flat">
                <a:solidFill>
                  <a:srgbClr val="1A73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5</c:v>
                  </c:pt>
                  <c:pt idx="2">
                    <c:v>20</c:v>
                  </c:pt>
                  <c:pt idx="3">
                    <c:v>40</c:v>
                  </c:pt>
                  <c:pt idx="4">
                    <c:v>80</c:v>
                  </c:pt>
                  <c:pt idx="5">
                    <c:v>135</c:v>
                  </c:pt>
                  <c:pt idx="6">
                    <c:v>200</c:v>
                  </c:pt>
                  <c:pt idx="7">
                    <c:v>374</c:v>
                  </c:pt>
                  <c:pt idx="8">
                    <c:v>667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12.38</c:v>
                </c:pt>
                <c:pt idx="1">
                  <c:v>14</c:v>
                </c:pt>
                <c:pt idx="2">
                  <c:v>16.23</c:v>
                </c:pt>
                <c:pt idx="3">
                  <c:v>17.6</c:v>
                </c:pt>
                <c:pt idx="4">
                  <c:v>18.7</c:v>
                </c:pt>
                <c:pt idx="5">
                  <c:v>19.17</c:v>
                </c:pt>
                <c:pt idx="6">
                  <c:v>18.85</c:v>
                </c:pt>
                <c:pt idx="7">
                  <c:v>17.7</c:v>
                </c:pt>
                <c:pt idx="8">
                  <c:v>16.9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12"/>
        </c:scaling>
        <c:delete val="0"/>
        <c:axPos val="l"/>
        <c:majorGridlines>
          <c:spPr>
            <a:ln w="12700" cap="flat">
              <a:solidFill>
                <a:srgbClr val="24496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9B8D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presentar el problema visual. Preguntar al grupo: ¿qué parte es ruido y qué parte sigue siendo estructura?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ruido es aleatorio y caótico, pero la estructura que buscamos tiene un patrón. Y SVD puede encontrarlo.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entrar en álgebra pesada: SVD separa patrones por importancia. Los valores singulares son el ranking de importancia.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elegir un k más pequeño, reducimos drásticamente la información que guardamos, pero conservamos lo esencial: la estructura del dígito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como una fiesta: las voces principales son los valores grandes; el murmullo de fondo son los valores pequeños. SVD nos ayuda a quedarnos con lo importante.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 cómo la imagen cobra vida al aumentar k. Pero si subimos demasiado, también empiezan a regresar detalles que son ruido.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codo no siempre da un número exacto. Es una regla visual para detectar el cambio entre información dominante y cola de componentes pequeños.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energía acumulada nos dice cuánta información capturan los primeros k componentes. Con 171 componentes ya tenemos el 90% de toda la energía.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PSNR nos da una respuesta precisa: cuál k maximiza calidad. Ojo: requiere una referencia limpia, cosa que en problemas reales no siempre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llamado a la acción: que tomen una imagen, agreguen ruido y prueben distintos valores de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527"/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510528"/>
            <a:ext cx="11521440" cy="0"/>
          </a:xfrm>
          <a:prstGeom prst="line">
            <a:avLst/>
          </a:prstGeom>
          <a:noFill/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SVD · Digit 3 Denoising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dark_graphic_illustration_scene_a_single_lar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71527">
              <a:alpha val="88000"/>
            </a:srgbClr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640080" y="502920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1A73E8">
              <a:alpha val="94000"/>
            </a:srgbClr>
          </a:solidFill>
          <a:ln w="12700">
            <a:solidFill>
              <a:srgbClr val="1A73E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49808" y="5669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σ = 0.2 · Noisy PSNR = 16.71 dB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SEEING THROUGH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NOISE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7512" y="2926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6D9EF"/>
                </a:solidFill>
              </a:rPr>
              <a:t>How SVD Reveals Hidden Structure in Images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" y="34015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DCE6F7"/>
                </a:solidFill>
              </a:rPr>
              <a:t>A story of mathematics, handwritten digits, and discovery.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7512" y="3977640"/>
            <a:ext cx="4434840" cy="0"/>
          </a:xfrm>
          <a:prstGeom prst="line">
            <a:avLst/>
          </a:prstGeom>
          <a:noFill/>
          <a:ln w="20320">
            <a:solidFill>
              <a:srgbClr val="1A73E8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5800" y="434340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What if you could look at a noise-corrupted image and mathematically recover the original digit?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1/10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YOU READ THESE DIGITS?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9601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They are all handwritten 3s... but noise makes them almost unreadable.</a:t>
            </a:r>
            <a:endParaRPr lang="en-US" sz="1500" dirty="0"/>
          </a:p>
        </p:txBody>
      </p:sp>
      <p:pic>
        <p:nvPicPr>
          <p:cNvPr id="4" name="Image 0" descr="/mnt/data/a_wide_clean_infographic_like_image_on_a_black_ba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43072"/>
            <a:ext cx="7498080" cy="4219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12480" y="1234440"/>
            <a:ext cx="3108960" cy="3749040"/>
          </a:xfrm>
          <a:prstGeom prst="roundRect">
            <a:avLst>
              <a:gd name="adj" fmla="val 2941"/>
            </a:avLst>
          </a:prstGeom>
          <a:solidFill>
            <a:srgbClr val="0B1E35"/>
          </a:solidFill>
          <a:ln w="12700">
            <a:solidFill>
              <a:srgbClr val="1A73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41080" y="1481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Notebook data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41080" y="18745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66D9E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69096" y="19842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6,131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769096" y="23317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digit-3 images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0012680" y="18745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1A73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140696" y="19842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28×28=784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140696" y="23317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pixels per image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641080" y="27889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769096" y="28986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σ = 0.2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769096" y="32461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Gaussian noise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12680" y="2788920"/>
            <a:ext cx="123444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EA433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140696" y="2898648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16.71 dB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140696" y="3246120"/>
            <a:ext cx="978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Noisy PSNR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641080" y="391363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8D3"/>
                </a:solidFill>
              </a:rPr>
              <a:t>Question for students: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641080" y="4160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Can you identify the number in each image?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2/10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SVD: THE TOOL THAT REVEALS STRUCTURE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It decomposes a matrix into “layers of information.”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3749040" cy="841248"/>
          </a:xfrm>
          <a:prstGeom prst="roundRect">
            <a:avLst>
              <a:gd name="adj" fmla="val 8696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5544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U · Σ · Vᵀ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1A73E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A73E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784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All images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66D9E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24612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6131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Image patterns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720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=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53212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66928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ABB0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62356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6131 × 784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Importance / energy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8464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909560" y="27432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78B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Vᵀ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001000" y="32644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784 × 784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3538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Pixel patterns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62088" y="3136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22960" y="4572000"/>
            <a:ext cx="9646920" cy="960120"/>
          </a:xfrm>
          <a:prstGeom prst="roundRect">
            <a:avLst>
              <a:gd name="adj" fmla="val 7619"/>
            </a:avLst>
          </a:prstGeom>
          <a:solidFill>
            <a:srgbClr val="0E2847">
              <a:alpha val="95000"/>
            </a:srgbClr>
          </a:solidFill>
          <a:ln w="12700">
            <a:solidFill>
              <a:srgbClr val="66D9E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4128" y="47365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Analogy: imagine an orchestra.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0520" y="4736592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U and V are the musicians; Σ is the volume of each instrument. The loudest instruments are the ones that matter most.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3/10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THE DIMENSIONS MATTER?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The formula is simple; the dimensions tell the story.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 matrix 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1847088"/>
            <a:ext cx="2468880" cy="2926080"/>
          </a:xfrm>
          <a:prstGeom prst="rect">
            <a:avLst/>
          </a:prstGeom>
          <a:solidFill>
            <a:srgbClr val="1A73E8">
              <a:alpha val="95000"/>
            </a:srgbClr>
          </a:solidFill>
          <a:ln w="19050">
            <a:solidFill>
              <a:srgbClr val="1A73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6131 rows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= images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784 columns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= pixels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49560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[6131 × 784]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94760" y="141732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86200" y="15270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Xₖ = Uₖ · Σₖ · Vₖᵀ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3840480" y="2788920"/>
            <a:ext cx="1600200" cy="1280160"/>
          </a:xfrm>
          <a:prstGeom prst="roundRect">
            <a:avLst>
              <a:gd name="adj" fmla="val 5714"/>
            </a:avLst>
          </a:prstGeom>
          <a:solidFill>
            <a:srgbClr val="0B1E35"/>
          </a:solidFill>
          <a:ln w="16510">
            <a:solidFill>
              <a:srgbClr val="66D9E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50208" y="2971800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D9E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34290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6131 × 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2788920"/>
            <a:ext cx="1051560" cy="1280160"/>
          </a:xfrm>
          <a:prstGeom prst="roundRect">
            <a:avLst>
              <a:gd name="adj" fmla="val 6957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16168" y="2971800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BB0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97880" y="342900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× 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50408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269480" y="278892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0B1E35"/>
          </a:solidFill>
          <a:ln w="16510">
            <a:solidFill>
              <a:srgbClr val="A78BFA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79208" y="29718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Vₖᵀ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60920" y="3429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× 784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3448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·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75888" y="4480560"/>
            <a:ext cx="5760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[6131×784] = [6131×k] · [k×k] · [k×784]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38360" y="1417320"/>
            <a:ext cx="1920240" cy="3749040"/>
          </a:xfrm>
          <a:prstGeom prst="roundRect">
            <a:avLst>
              <a:gd name="adj" fmla="val 3810"/>
            </a:avLst>
          </a:prstGeom>
          <a:solidFill>
            <a:srgbClr val="0E2847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1268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Choose k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012680" y="2286000"/>
            <a:ext cx="1371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keep only the k most important patterns and discard the rest.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875520" y="416052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34A853">
              <a:alpha val="94000"/>
            </a:srgbClr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985248" y="422452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less data · same structure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4/10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SECRET: SEPARATING SIGNAL FROM NOISE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7"/>
                </a:solidFill>
              </a:rPr>
              <a:t>The digit shape lives in the large singular values. Noise is spread across many small values.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572768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0876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0B1E35"/>
          </a:solidFill>
          <a:ln w="12700">
            <a:solidFill>
              <a:srgbClr val="34A853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75320" y="1764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A853"/>
                </a:solidFill>
              </a:rPr>
              <a:t>SIGNAL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2104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first components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with the most energy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01000" y="3063240"/>
            <a:ext cx="3429000" cy="1280160"/>
          </a:xfrm>
          <a:prstGeom prst="roundRect">
            <a:avLst>
              <a:gd name="adj" fmla="val 7143"/>
            </a:avLst>
          </a:prstGeom>
          <a:solidFill>
            <a:srgbClr val="0B1E35"/>
          </a:solidFill>
          <a:ln w="12700">
            <a:solidFill>
              <a:srgbClr val="EA433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75320" y="3319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4335"/>
                </a:solidFill>
              </a:rPr>
              <a:t>NOISE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2104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many small,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6F7"/>
                </a:solidFill>
              </a:rPr>
              <a:t>dispersed components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56235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σ₁ = 593.72 dominates the scale: that is why ranking matters.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5/10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k TRANSFORMS THE IMAGE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4 reconstructions, 4 different outcomes</a:t>
            </a:r>
            <a:endParaRPr lang="en-US" sz="1300" dirty="0"/>
          </a:p>
        </p:txBody>
      </p:sp>
      <p:pic>
        <p:nvPicPr>
          <p:cNvPr id="4" name="Image 0" descr="/mnt/data/a_clean_graphic_image_with_a_dark_navy_blue_backgr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20690"/>
            <a:ext cx="6629400" cy="37310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2344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EA433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44968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4335"/>
                </a:solidFill>
              </a:rPr>
              <a:t>k = 1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4496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12.38 dB · Energy 57.2%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Almost unrecognizable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464040" y="12344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FABB0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573768" y="1371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ABB05"/>
                </a:solidFill>
              </a:rPr>
              <a:t>k = 5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573768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14.00 dB · Energy 67.6%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Starting to emerge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35240" y="39776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34A85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744968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A853"/>
                </a:solidFill>
              </a:rPr>
              <a:t>k = 20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744968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16.23 dB · Energy 77.4%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Perfectly readable!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464040" y="397764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0B1E35"/>
          </a:solidFill>
          <a:ln w="16510">
            <a:solidFill>
              <a:srgbClr val="EA433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573768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4335"/>
                </a:solidFill>
              </a:rPr>
              <a:t>k = 40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573768" y="4480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PSNR 17.60 dB · Energy 81.9%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Noise returns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35240" y="3429000"/>
            <a:ext cx="3429000" cy="338328"/>
          </a:xfrm>
          <a:prstGeom prst="roundRect">
            <a:avLst>
              <a:gd name="adj" fmla="val 21622"/>
            </a:avLst>
          </a:prstGeom>
          <a:solidFill>
            <a:srgbClr val="34A853">
              <a:alpha val="92000"/>
            </a:srgbClr>
          </a:solidFill>
          <a:ln w="12700">
            <a:solidFill>
              <a:srgbClr val="07152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772400" y="352044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Visual takeaway: increasing k helps... until it starts bringing noise back.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6/10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ELBOW OF THE SINGULAR VALUES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Method 1: find where the curve stops dropping rapidly.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366760" y="1508760"/>
            <a:ext cx="3063240" cy="2926080"/>
          </a:xfrm>
          <a:prstGeom prst="roundRect">
            <a:avLst>
              <a:gd name="adj" fmla="val 3125"/>
            </a:avLst>
          </a:prstGeom>
          <a:solidFill>
            <a:srgbClr val="0B1E35"/>
          </a:solidFill>
          <a:ln w="12700">
            <a:solidFill>
              <a:srgbClr val="1A73E8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5953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Reading the scree plot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41080" y="2176272"/>
            <a:ext cx="25146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dirty="0">
                <a:solidFill>
                  <a:srgbClr val="DCE6F7"/>
                </a:solidFill>
              </a:rPr>
              <a:t>Values in descending order</a:t>
            </a:r>
            <a:endParaRPr lang="en-US" sz="1200" dirty="0"/>
          </a:p>
          <a:p>
            <a:r>
              <a:rPr lang="en-US" sz="1200" dirty="0">
                <a:solidFill>
                  <a:srgbClr val="DCE6F7"/>
                </a:solidFill>
              </a:rPr>
              <a:t>We look for the curve’s “elbow”</a:t>
            </a:r>
            <a:endParaRPr lang="en-US" sz="1200" dirty="0"/>
          </a:p>
          <a:p>
            <a:r>
              <a:rPr lang="en-US" sz="1200" dirty="0">
                <a:solidFill>
                  <a:srgbClr val="DCE6F7"/>
                </a:solidFill>
              </a:rPr>
              <a:t>Suggested region: k ≈ 171–374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41080" y="352044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34A853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769096" y="363016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 = 171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69096" y="3977640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90% energy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012680" y="3520440"/>
            <a:ext cx="118872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140696" y="363016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 = 374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140696" y="3977640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95% energy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579729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The elbow marks where values begin to appear less significant.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7/10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pic>
        <p:nvPicPr>
          <p:cNvPr id="26" name="Picture 25" descr="slide7_scree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444752"/>
            <a:ext cx="74066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MUCH ENERGY DOES EACH k CAPTURE?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Method 2: cumulative energy.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41080" y="146304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0B1E35"/>
          </a:solidFill>
          <a:ln w="12700">
            <a:solidFill>
              <a:srgbClr val="34A853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96112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Results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006840" y="23317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34A853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134856" y="24414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90% → k=171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34856" y="27889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006840" y="32461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FABB0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34856" y="33558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95% → k=374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34856" y="37033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006840" y="416052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0E2847">
              <a:alpha val="98000"/>
            </a:srgbClr>
          </a:solidFill>
          <a:ln w="15240">
            <a:solidFill>
              <a:srgbClr val="EA4335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34856" y="42702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99% → k=667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34856" y="4617720"/>
            <a:ext cx="17099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A9B8D3"/>
                </a:solidFill>
              </a:rPr>
              <a:t>energy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68680" y="58338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Key idea: the curve rises quickly at first and then levels off.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8/10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Picture 25" descr="slide8_energy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17320"/>
            <a:ext cx="76352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PERFECT k: MAXIMUM QUALITY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66D9EF"/>
                </a:solidFill>
              </a:rPr>
              <a:t>Method 3: PSNR compares the reconstruction with the clean image.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0100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0B1E35"/>
          </a:solidFill>
          <a:ln w="17780">
            <a:solidFill>
              <a:srgbClr val="34A853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75320" y="17190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A853"/>
                </a:solidFill>
              </a:rPr>
              <a:t>optimal k = 135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75320" y="214884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Maximum PSNR = 19.17 dB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75320" y="23957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D9EF"/>
                </a:solidFill>
              </a:rPr>
              <a:t>Improvement over noise: +2.46 dB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001000" y="3063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302752" y="33101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Comparison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366760" y="36850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95% energy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966960" y="3685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374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0" y="4078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Elbow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966960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6F7"/>
                </a:solidFill>
              </a:rPr>
              <a:t>171–374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66760" y="4471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</a:rPr>
              <a:t>PSNR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966960" y="4471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A853"/>
                </a:solidFill>
              </a:rPr>
              <a:t>135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583387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D9EF"/>
                </a:solidFill>
              </a:rPr>
              <a:t>PSNR gives the most direct answer when we have a clean reference image.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9/10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Picture 25" descr="slide9_psnr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417320"/>
            <a:ext cx="7040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TOO LITTLE, NOT TOO MUCH: JUST THE RIGHT k!</a:t>
            </a:r>
            <a:endParaRPr lang="en-US" sz="3100" dirty="0"/>
          </a:p>
        </p:txBody>
      </p:sp>
      <p:pic>
        <p:nvPicPr>
          <p:cNvPr id="3" name="Image 0" descr="/mnt/data/a_wide_dark_navy_black_background_image_showing_t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376" y="1143000"/>
            <a:ext cx="5930287" cy="33375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EA433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82296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335"/>
                </a:solidFill>
              </a:rPr>
              <a:t>small 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loses detail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blurry image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06324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15468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optimal 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5468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clean 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perfectly readable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94960" y="46634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0B1E35"/>
          </a:solidFill>
          <a:ln w="12700">
            <a:solidFill>
              <a:srgbClr val="FABB05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486400" y="4791456"/>
            <a:ext cx="1874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BB05"/>
                </a:solidFill>
              </a:rPr>
              <a:t>large 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50749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noise reintroduced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CE6F7"/>
                </a:solidFill>
              </a:rPr>
              <a:t>looks grainy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0" y="1234440"/>
            <a:ext cx="3520440" cy="4526280"/>
          </a:xfrm>
          <a:prstGeom prst="roundRect">
            <a:avLst>
              <a:gd name="adj" fmla="val 2597"/>
            </a:avLst>
          </a:prstGeom>
          <a:solidFill>
            <a:srgbClr val="0B1E35"/>
          </a:solidFill>
          <a:ln w="12700">
            <a:solidFill>
              <a:srgbClr val="1A73E8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66760" y="15544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Closing thought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394192" y="20116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D9EF"/>
                </a:solidFill>
              </a:rPr>
              <a:t>“SVD does more than clean images: it teaches us that behind the chaos, structure is always waiting to be revealed.”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03920" y="32735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Real-world applications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77072" y="3685032"/>
            <a:ext cx="25146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120" dirty="0">
                <a:solidFill>
                  <a:srgbClr val="DCE6F7"/>
                </a:solidFill>
              </a:rPr>
              <a:t>Neuroimaging: denoise scans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Satellites: enhance imagery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Film: restore movies</a:t>
            </a:r>
            <a:endParaRPr lang="en-US" sz="1120" dirty="0"/>
          </a:p>
          <a:p>
            <a:r>
              <a:rPr lang="en-US" sz="1120" dirty="0">
                <a:solidFill>
                  <a:srgbClr val="DCE6F7"/>
                </a:solidFill>
              </a:rPr>
              <a:t>Facial recognition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8211312" y="516636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34A853">
              <a:alpha val="94000"/>
            </a:srgbClr>
          </a:solidFill>
          <a:ln w="12700">
            <a:solidFill>
              <a:srgbClr val="34A853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321040" y="523036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Experiment: add noise and find your optimal k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6716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9B8D3"/>
                </a:solidFill>
              </a:rPr>
              <a:t>10/10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EA7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 a través del ruido</dc:title>
  <dc:subject>SVD Digit 3 Denoising</dc:subject>
  <dc:creator>OpenAI</dc:creator>
  <cp:lastModifiedBy>OpenAI</cp:lastModifiedBy>
  <cp:revision>1</cp:revision>
  <dcterms:created xsi:type="dcterms:W3CDTF">2026-08-22T20:23:59Z</dcterms:created>
  <dcterms:modified xsi:type="dcterms:W3CDTF">2026-08-22T20:23:59Z</dcterms:modified>
</cp:coreProperties>
</file>